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41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1 封面｜約 30 秒】
大家好，我們是第十一組，今天要報告的期末專題主題是「情緒增強型 DRL 交易系統」。
這個系統的核心概念，是把 Large Language Model 提供的市場情緒信號，融入 Deep Reinforcement Learning 的狀態空間，實證情緒資訊能否有效提升自動化交易 agent 的績效。
接下來 10 分鐘，我們會依序介紹研究動機、相關工作、方法設計、實驗規劃，以及預期貢獻。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2 研究動機｜約 80 秒】
讓我從三個數字切入。2024 年全球股票市值超過 109 兆美元，超過 80% 的交易由演算法執行，情緒替代資料的市場規模更超過 15 億美元且快速成長。
這代表著：市場不再只是技術面的遊戲，投資人情緒正深刻影響短期價格走勢。
然而，傳統 DRL agent 的 state space 僅包含量化技術指標，無法捕捉驅動市場波動的真正主因——市場情緒與突發新聞。
因此，我們的核心問題是：是否能賦予 DRL agent 解讀市場心理的能力？我們透過引入 FinGPT LLM 情緒信號，嘗試同時捕捉客觀價格趨勢與主觀市場情緒，驗證情緒特徵的實際效益。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3 研究挑戰｜約 70 秒】
將 LLM 情緒信號融入 DRL 交易系統面臨四個核心挑戰。
第一，前瞻偏差。若讓 agent 用「今天的情緒」預測「今天的報酬」，模型等於在用未來資訊作弊，所有回測結果都會失效。
第二，非結構化文本難以量化。原始新聞文本無法直接輸入 DRL 模型，需要 FinGPT 這樣的金融 LLM 將其轉換為可量化的情緒分數。
第三，訓練和上線的分布偏移。訓練用的歷史 dataset 和上線時即時抓取的新聞，格式和覆蓋率都不同，容易造成 distribution shift。
第四，低延遲即時交易環境。每天要對 30 支股票跑 13B 參數的 LoRA 模型，必須在收盤後的時間窗口內完成，對效能是一大挑戰。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4 FinRL｜約 70 秒】
FinRL 是我們 DRL 框架的基礎，它是專為量化金融與演算法交易設計的開源深度強化學習基礎設施。
它解決了實作門檻高、策略僵化、難以銜接真實券商這三大痛點。
核心概念是將市場環境封裝成馬可夫決策過程，讓 AI agent 在虛擬市場反覆試錯。
架構上採用三層式設計：底層是市場環境層，負責提供市場資料和 Gym 環境；中間是 DRL 代理人層，我們在這一層比較 PPO、SAC、TD3 三種演算法；最上層是金融應用層，定義具體的交易任務。
這種解耦設計讓我們可以靈活替換各層的元件，也讓 Train-Test-Trade 的完整工作流程得以整合。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5 FinGPT｜約 70 秒】
FinGPT 是我們情緒信號的來源，它是專為金融語境打造的開源大型語言模型。
它解決了兩個關鍵問題：第一，傳統 NLP 無法理解金融領域的非結構化文本；第二，GPT-4 等高階模型造價昂貴，難以在實驗中大量使用。
FinGPT 以數據為中心，系統性收集高品質的金融語料，包含新聞標題、財報摘要等，並透過 LoRA 微調技術，用極低的訓練成本讓開源模型具備金融專業能力。
最關鍵的是它的輸出：每支股票每天一個介於 -1 到 +1 的情緒分數。-1 代表極度負面，+1 代表極度正面。這個分數就是我們加入 DRL state space 的額外 30 個維度。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6 解決方案｜約 70 秒】
針對前面的挑戰，我們提出三項核心創新。
第一，無偏差情緒 Pipeline。我們明確規定：agent 永遠只能看到前一天的情緒分數，訓練和上線的邏輯完全一致，根本消除 look-ahead bias 和 distribution shift。
第二，嚴謹的 2×3×2 全因子消融設計。12 組實驗同時控制情緒有無、演算法種類和 Reward 版本，讓每個比較都是控制其他變數後的公平對比，精確量化情緒信號的淨貢獻。
第三，端對端的即時模擬交易系統。我們不只是回測，而是把最優模型真正部署起來，每天自動完成資料擷取、情緒推論、模型決策、模擬下單，並在 Streamlit Dashboard 上即時展示。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7 系統設計｜約 80 秒】
現在說明系統的技術細節。
左側是 State Space 設計。Baseline 模型使用 301 維狀態向量：1 維帳戶現金比例，30 維收盤價，30 維持股數量，以及 8 種技術指標乘以 30 支股票共 240 維。
Enhanced 模型在此基礎上新增 30 維，對應 DOW30 每支股票的 FinGPT 情緒分數，從 -1 到 +1。這 30 個維度就是實驗中唯一的操控變數。
右側是技術選型。DRL 框架使用 FinRL 搭配 Stable Baselines3。情緒資料訓練期用 HuggingFace dataset，上線後用本地 Llama2-13B LoRA 即時 inference。模擬交易透過 Alpaca Paper Trading API，最終結果展示在 Streamlit Dashboard，並由 Linux Cron Job 每日自動排程。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8 DRL 演算法｜約 70 秒】
我們在實驗中比較三種主流的 DRL 演算法。
PPO（Proximal Policy Optimization）是最穩定的演算法之一，強調「小步更新」。透過 Clipping 機制防止策略劇烈變動，適合處理市場的高雜訊環境，不容易產生過於極端的交易行為。
SAC（Soft Actor-Critic）強調最大化熵，也就是鼓勵 agent 多探索未知的可能性。在波動劇烈的市場中，SAC 較不容易過早陷入局部最佳解，能更靈活地尋找最佳買賣時機。
TD3（Twin Delayed DDPG）專門解決「價值過度估計」的問題。透過兩套 Critic 網路互相校對，能更冷靜地評估每筆交易的潛在獲利，減少被市場雜訊誤導的機會。
比較這三種演算法在有無情緒信號下的表現，是我們消融實驗的核心之一。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9 Reward Function｜約 70 秒】
接著說明 Reward Function 的設計，我們設計了兩個版本。
v1 是標準報酬，公式非常簡單：當前總資產減去前一期總資產。利潤至上，agent 直接優化財富累積。優點是設計清晰、訓練信號明確；但潛在問題是不在乎風險，可能為了高報酬承擔過大風險，導致巨大回撤。
v2 是風險調整報酬，在資產差額的基礎上，減去一個 λ 乘以風險懲罰項。λ 控制風險厭惡程度，越大越穩健。風險懲罰項可以是持倉波動率或最大回撤等指標，目的是讓資產曲線更平滑，提升 Sharpe Ratio。
比較 v1 和 v2 在有無情緒信號下的表現，是我們消融設計中的另一個關鍵維度。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10 實驗組別｜約 60 秒】
這張投影片整合了所有實驗組別。
12 組實驗來自三個維度的交叉：情緒信號有無、演算法 PPO/SAC/TD3，以及 Reward 版本 v1/v2。
我們優先執行 EXP-1 到 EXP-6，這是核心的六組消融實驗。EXP-1 到 3 是無情緒的 Baseline，EXP-4 到 6 加入情緒。在控制演算法相同的條件下，比較這兩組就能直接量化情緒信號的淨貢獻。
EXP-7 到 12 是加分項目，進一步驗證在風險調整 Reward 下情緒信號的效果。
資料使用 DOW30 成分股 2014 到 2024 年的十年資料，訓練 2014 到 2021，驗證 2022，測試 2023 到 2024，評估指標包含年化報酬率、Sharpe Ratio、最大回撤、Calmar Ratio 和勝率。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11 預期成果｜約 70 秒】
我們提出三個研究假說。
H1：加入情緒信號後，所有演算法的 Sharpe Ratio 都高於對應的 Baseline。如果成立，代表情緒信號的貢獻是穩健的，不依賴特定演算法。
H2：風險調整 Reward 搭配情緒信號，在控制最大回撤上有加乘效果。我們預期情緒信號能讓 agent 更早感知市場恐慌，提前降低曝險。
H3：情緒信號在高波動市場情境中效果最強，包括 2022 年熊市和 2023 年 AI 急漲行情。
值得說明的是，即使實驗結果不符合假說，這本身也是重要的研究發現。
工程目標方面，我們預計展示 Streamlit 即時看板、每日自動排程系統、30 支股票的情緒熱圖，以及完整的交易紀錄資料庫。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— Slide 12 貢獻與結語｜約 30 秒】
最後總結我們的三大研究貢獻。
第一，情緒特徵導入——首次在 FinRL 框架內系統性導入 FinGPT 情緒特徵，量化非結構化文本對交易績效的貢獻。
第二，多演算法公平比較——透過嚴謹的全因子消融設計，公平比較三種主流 DRL 演算法在有無情緒信號下的表現。
第三，自動交易代理人——實現從研究到部署的完整端對端系統，真正讓模型「跑起來」。
以上就是我們第十一組的完整報告，謝謝大家，歡迎提問！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109728"/>
            <a:ext cx="502920" cy="5033772"/>
          </a:xfrm>
          <a:prstGeom prst="rect">
            <a:avLst/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情緒增強型 DRL 交易系統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2128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Sentiment-Enhanced Deep Reinforcement Learning Trading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FinRL × FinGPT 情緒信號 × Alpaca 即時模擬交易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7772400" cy="45720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747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3474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Reinforcement Learning 期末專題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858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38587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第十一組　｜　高健壹 · 陳致瑋 · 黃楷奇 · 黃俊傑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242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42428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週研究 + 持續上線至期末 Demo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6268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46268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DOW 30 美股成分股</a:t>
            </a:r>
            <a:endParaRPr lang="en-US" sz="11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Introduction &amp; Motivation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9692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$109T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全球股票市值（2024）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1993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金融市場規模持續擴大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9692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6499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演算法交易佔比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1993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量化策略已主導現代市場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14400"/>
            <a:ext cx="91440" cy="14173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9692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$1.5B+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45352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情緒替代資料市值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1993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情緒信號需求激增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487168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  DRL 交易的時代機遇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" y="2980944"/>
            <a:ext cx="38587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與 DRL 技術進步飛快，已成為現代演算法交易的核心基礎設施。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 DRL agent 仰賴技術指標做決策，能捕捉量化趨勢，但缺乏對市場「情緒面」的感知能力。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情緒分析市場蓬勃成長，機構投資人對 LLM 情緒信號的需求持續攀升。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487168"/>
            <a:ext cx="4160520" cy="2331720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 核心研究問題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18888" y="2980944"/>
            <a:ext cx="385876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是否能賦予 DRL agent 解讀市場心理的能力？
</a:t>
            </a: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透過引入 FinGPT 情緒信號，同時捕捉客觀價格趨勢與主觀市場情緒，驗證情緒特徵能否有效提升交易績效。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研究挑戰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Challenges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042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 前瞻偏差（Look-Ahead Bias）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" y="1481328"/>
            <a:ext cx="3749040" cy="27432"/>
          </a:xfrm>
          <a:prstGeom prst="rect">
            <a:avLst/>
          </a:prstGeom>
          <a:solidFill>
            <a:srgbClr val="E8E3DB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572768"/>
            <a:ext cx="38221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若將「今日情緒」直接與「今日報酬」配對，模型等同使用未來資訊，訓練結果完全失效。必須嚴格執行 T-1 對齊，確保 agent 只能看到前一天的情緒分數。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82312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914400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042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 非結構化文本難以量化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3749040" cy="27432"/>
          </a:xfrm>
          <a:prstGeom prst="rect">
            <a:avLst/>
          </a:prstGeom>
          <a:solidFill>
            <a:srgbClr val="E8E3DB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572768"/>
            <a:ext cx="38221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原始新聞文本無法直接輸入 DRL 模型。需要透過金融 LLM 將非結構化文本轉換為可量化的情緒分數，並設計一致的 inference pipeline。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4436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44368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 訓練／上線分布偏移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" y="3511296"/>
            <a:ext cx="3749040" cy="27432"/>
          </a:xfrm>
          <a:prstGeom prst="rect">
            <a:avLst/>
          </a:prstGeom>
          <a:solidFill>
            <a:srgbClr val="E8E3DB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602736"/>
            <a:ext cx="38221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訓練期使用 HuggingFace 歷史情緒資料集，上線後需即時 inference——兩者格式與覆蓋率差異，易造成 distribution shift，導致上線績效下滑。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82312" y="294436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2944368"/>
            <a:ext cx="91440" cy="18288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 低延遲即時交易環境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511296"/>
            <a:ext cx="3749040" cy="27432"/>
          </a:xfrm>
          <a:prstGeom prst="rect">
            <a:avLst/>
          </a:prstGeom>
          <a:solidFill>
            <a:srgbClr val="E8E3DB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02736"/>
            <a:ext cx="38221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將複雜 LLM 模型落地至即時交易環境具有極大難度。每個交易日需對 DOW30 共 30 支股票完成 Llama2-13B LoRA 推論，須在夜間 cron job 時間窗口內完成。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相關工作 — FinRL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Related 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5074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FinRL 是什麼？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" y="1417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專為量化金融與演算法交易打造的開源深度強化學習基礎設施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011680"/>
            <a:ext cx="4846320" cy="62179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39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解決的問題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2951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實作門檻高、策略僵化、難以銜接至真實券商——FinRL 以統一介面封裝這些複雜度。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715768"/>
            <a:ext cx="4846320" cy="621792"/>
          </a:xfrm>
          <a:prstGeom prst="rect">
            <a:avLst/>
          </a:prstGeom>
          <a:solidFill>
            <a:srgbClr val="F8F6F3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將市場環境封裝成馬可夫決策過程（MDP），讓 AI agent 在虛擬市場反覆試錯、自我優化。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419856"/>
            <a:ext cx="4846320" cy="62179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47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三層解耦架構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市場環境層 / DRL 代理人層 / 金融應用層，大幅提升開發靈活度與模組可替換性。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4123944"/>
            <a:ext cx="4846320" cy="621792"/>
          </a:xfrm>
          <a:prstGeom prst="rect">
            <a:avLst/>
          </a:prstGeom>
          <a:solidFill>
            <a:srgbClr val="F8F6F3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51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一站式工作流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0740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 → Test → Trade，從資料到回測到實盤，整合完整的量化交易開發流程。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914400"/>
            <a:ext cx="3246120" cy="3977640"/>
          </a:xfrm>
          <a:prstGeom prst="rect">
            <a:avLst/>
          </a:prstGeom>
          <a:solidFill>
            <a:srgbClr val="F3EEE8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024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三層式架構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50992" y="1481328"/>
            <a:ext cx="3063240" cy="80467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536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金融應用層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18836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Financial Application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2084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股票交易 / 投資組合 / 期貨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23408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6B55"/>
                </a:solidFill>
              </a:rPr>
              <a:t>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50992" y="2532888"/>
            <a:ext cx="3063240" cy="804672"/>
          </a:xfrm>
          <a:prstGeom prst="rect">
            <a:avLst/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2587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DRL 代理人層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2935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DRL Agent Layer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3136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PPO / SAC / TD3 / A2C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15000" y="3392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6B55"/>
                </a:solidFill>
              </a:rPr>
              <a:t>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50992" y="3584448"/>
            <a:ext cx="3063240" cy="804672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1500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市場環境層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15000" y="39867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Market Environment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15000" y="4187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8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Gym / MDP / 回測引擎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相關工作 — FinGPT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Related 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5074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FinGPT 是什麼？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" y="1417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專為金融語境與投資決策打造的開源大型語言模型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1865376"/>
            <a:ext cx="4846320" cy="62179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解決的問題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無法理解驅動市場的「非結構化文本」，以及高階模型造價昂貴等問題。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569464"/>
            <a:ext cx="4846320" cy="621792"/>
          </a:xfrm>
          <a:prstGeom prst="rect">
            <a:avLst/>
          </a:prstGeom>
          <a:solidFill>
            <a:srgbClr val="F8F6F3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96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以數據為中心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著重於抓取最高品質的市場資訊，從新聞標題到財報摘要，系統性建立金融語料庫。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273552"/>
            <a:ext cx="4846320" cy="62179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00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LoRA 微調技術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5701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Parameter-Efficient Fine-Tuning，大幅降低 LLM 訓練成本，讓開源模型具備金融專業能力。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977640"/>
            <a:ext cx="4846320" cy="621792"/>
          </a:xfrm>
          <a:prstGeom prst="rect">
            <a:avLst/>
          </a:prstGeom>
          <a:solidFill>
            <a:srgbClr val="F8F6F3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情緒量化輸出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6110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精準的情緒量化轉換，輸出範圍 [−1.0, +1.0]，−1 為極度負面，+1 為極度正面。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914400"/>
            <a:ext cx="3246120" cy="3977640"/>
          </a:xfrm>
          <a:prstGeom prst="rect">
            <a:avLst/>
          </a:prstGeom>
          <a:solidFill>
            <a:srgbClr val="F3EEE8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情緒分數示意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50992" y="1463040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1463040"/>
            <a:ext cx="749808" cy="5669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1463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+0.92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55664" y="1499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極度正面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55664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"Strong earnings beat, stock surges"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50992" y="2130552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50992" y="2130552"/>
            <a:ext cx="749808" cy="566928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1305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+0.45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55664" y="2167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輕度正面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55664" y="2423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"Steady growth reported in Q3"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50992" y="2798064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50992" y="2798064"/>
            <a:ext cx="749808" cy="566928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279806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0.00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55664" y="2834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55664" y="3090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"Company maintains guidance"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50992" y="3465576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50992" y="3465576"/>
            <a:ext cx="749808" cy="566928"/>
          </a:xfrm>
          <a:prstGeom prst="rect">
            <a:avLst/>
          </a:prstGeom>
          <a:solidFill>
            <a:srgbClr val="C0714A"/>
          </a:solidFill>
          <a:ln w="12700">
            <a:solidFill>
              <a:srgbClr val="C071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346557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−0.48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55664" y="35021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輕度負面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55664" y="3758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"Supply chain concerns persist"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50992" y="4133088"/>
            <a:ext cx="3063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50992" y="4133088"/>
            <a:ext cx="749808" cy="566928"/>
          </a:xfrm>
          <a:prstGeom prst="rect">
            <a:avLst/>
          </a:prstGeom>
          <a:solidFill>
            <a:srgbClr val="B85D3A"/>
          </a:solidFill>
          <a:ln w="12700">
            <a:solidFill>
              <a:srgbClr val="B85D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50992" y="413308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−0.88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55664" y="4169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極度負面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55664" y="4425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"Massive layoffs announced"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Methodology &amp; Our Solution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我們提出「情緒增強型 DRL 框架」，結合 FinRL 與 FinGPT，具備三項核心創新：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44752"/>
            <a:ext cx="804672" cy="98755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44752"/>
            <a:ext cx="8046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5361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無偏差情緒 Pipeline（T-1 嚴格對齊）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19019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統一規則：不論訓練或上線，agent 永遠只使用前一天（T-1）的情緒分數，從根本消除 look-ahead bias 與 distribution shift。訓練用 FinGPT HuggingFace Dataset，上線後用本地 Llama2-13B LoRA 即時 inference，兩者邏輯完全一致。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0320"/>
            <a:ext cx="804672" cy="98755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60320"/>
            <a:ext cx="8046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651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嚴謹 2×3×2 全因子消融設計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017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組實驗同時操控三個變數：情緒有無 × 演算法（PPO／SAC／TD3）× Reward 版本（標準／風險調整）。透過全因子設計，精確分離情緒信號的淨貢獻，排除演算法差異與 Reward 設計的混淆。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75888"/>
            <a:ext cx="804672" cy="987552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75888"/>
            <a:ext cx="8046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76732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端對端即時模擬交易系統（Live Deployment）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41330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最優模型包裝為每日自動執行的 cron job：yfinance 抓資料 → FinGPT 情緒推論 → SB3 模型決策 → Alpaca Paper Trading 模擬下單 → SQLite 記錄 → Streamlit Dashboard 即時展示績效。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系統設計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Development — State Space &amp; Tech Stack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0965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State Space 設計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3886200" cy="310896"/>
          </a:xfrm>
          <a:prstGeom prst="rect">
            <a:avLst/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 —  301 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18105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帳戶現金比例 (Cash Balance)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81051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收盤價 (Closing Prices)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139696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468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持股數量 (Holdings)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4688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技術指標 × 8 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798064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30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1272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MACD / RSI / 布林通道 / CCI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4564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DX / SMA30 / SMA60 / VIX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803904"/>
            <a:ext cx="3886200" cy="31089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039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Enhanced  —  331 維  (+30)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4187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FinGPT 情緒分數（每支股票，T-1）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418795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分數範圍 ∈ [−1, +1]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27448" y="914400"/>
            <a:ext cx="409651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技術選型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73168" y="1435608"/>
            <a:ext cx="3977640" cy="384048"/>
          </a:xfrm>
          <a:prstGeom prst="rect">
            <a:avLst/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41732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DRL 框架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48272" y="14173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FinRL + Stable Baselines3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18470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訓練演算法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48272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PPO / SAC / TD3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295144"/>
            <a:ext cx="3977640" cy="384048"/>
          </a:xfrm>
          <a:prstGeom prst="rect">
            <a:avLst/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27685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情緒資料（訓練）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48272" y="22768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FinGPT HuggingFace Dataset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70662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情緒資料（上線）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48272" y="27066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Llama2-13B LoRA（本地）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3154680"/>
            <a:ext cx="3977640" cy="384048"/>
          </a:xfrm>
          <a:prstGeom prst="rect">
            <a:avLst/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1363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股價資料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48272" y="3136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Yahoo Finance（免費）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5661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模擬交易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48272" y="35661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Alpaca Paper Trading API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73168" y="4014216"/>
            <a:ext cx="3977640" cy="384048"/>
          </a:xfrm>
          <a:prstGeom prst="rect">
            <a:avLst/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9959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視覺化看板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48272" y="3995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44256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排程執行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48272" y="4425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Linux Cron Job（每日）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實驗設計 — DRL 演算法比較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Experiments — DRL Algorithms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26517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2651760" cy="65836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32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PPO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0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最穩定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6459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Proximal Policy Optimization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1993392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強調「小步更新」策略——透過 Clipping 機制，防止模型在一次訓練中發生劇烈的策略變動。避免交易行為變得過於極端（如突然清倉或梭哈），高度適合處理市場的高雜訊環境。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730752"/>
            <a:ext cx="2432304" cy="36576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80390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 穩健性高，適合雜訊市場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6517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14400"/>
            <a:ext cx="2651760" cy="658368"/>
          </a:xfrm>
          <a:prstGeom prst="rect">
            <a:avLst/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932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0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0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最具探索性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16459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Soft Actor-Critic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1993392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強調最大化熵（Entropy），鼓勵 agent 多探索未知的可能性。在波動劇烈的市場中，SAC 較不容易過早陷入局部最佳解，能更靈活地尋找最佳買賣時機。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3730752"/>
            <a:ext cx="2432304" cy="36576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80390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 探索能力強，適合高波動市場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914400"/>
            <a:ext cx="26517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914400"/>
            <a:ext cx="2651760" cy="658368"/>
          </a:xfrm>
          <a:prstGeom prst="rect">
            <a:avLst/>
          </a:prstGeom>
          <a:solidFill>
            <a:srgbClr val="4A9B7F"/>
          </a:solidFill>
          <a:ln w="12700">
            <a:solidFill>
              <a:srgbClr val="4A9B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932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TD3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0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最精準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488" y="16459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B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Twin Delayed DDPG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0488" y="1993392"/>
            <a:ext cx="24323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專門解決「價值過度估計」的問題，透過兩套 Critic 網路互相校對，能更冷靜地判斷「這筆交易是否真的會賺錢」，有效減少被市場雜訊誤導的機會。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0488" y="3730752"/>
            <a:ext cx="2432304" cy="36576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3803904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B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 估值精準，抗雜訊能力強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實驗設計 — Reward Function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Experiments — Reward Design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4160520" cy="594360"/>
          </a:xfrm>
          <a:prstGeom prst="rect">
            <a:avLst/>
          </a:prstGeom>
          <a:solidFill>
            <a:srgbClr val="7C6B55"/>
          </a:solidFill>
          <a:ln w="12700">
            <a:solidFill>
              <a:srgbClr val="7C6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41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 —  Standard Reward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0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標準報酬（利潤至上）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3950208" cy="658368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099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 =  Total Assets(t)  −  Total Assets(t−1)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直覺設計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當前總資產減去前一期總資產，只計算每一步的絕對獲利。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設計簡單，agent 直接優化財富累積，訓練信號清晰。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潛在問題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利潤至上，不在乎過程中的風險。可能為了高報酬承擔極大風險，導致帳戶出現巨大回撤。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4160520" cy="5943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41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  —  Risk-Adjusted Reward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E0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風險調整報酬（追求穩健）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3950208" cy="658368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099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 =  Δ Assets  −  λ × Risk Penalty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設計目標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633472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在追求報酬的同時，透過 λ 風險懲罰項抑制過度冒險，讓資產曲線更平滑。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λ 參數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383280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調整風險厭惡程度，λ 越大越穩健保守，Sharpe Ratio 導向。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風險懲罰項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4133088"/>
            <a:ext cx="3858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可採用持倉波動率、最大回撤等指標，懲罰 agent 的高風險操作。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實驗組別總覽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Experiments — 12-Group Full Factorial Design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組全因子實驗設計  ──  2（情緒）× 3（演算法）× 2（Reward）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實驗組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情緒信號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演算法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Reward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角色定位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EXP-1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PPO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 標準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5D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 Baseline 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EXP-2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SAC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 標準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 Baseline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EXP-3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TD3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 標準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 Baseline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EXP-4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FinGPT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PPO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 標準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5D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情緒消融驗證 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EXP-5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FinGPT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SAC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 標準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情緒消融驗證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EXP-6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FinGPT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TD3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 標準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情緒消融驗證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 7–9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PPO/SAC/TD3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v2 風險調整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Reward 消融（選做）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EXP 10–12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FinGPT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PPO/SAC/TD3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v2 風險調整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A8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完整增強版（選做）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279392"/>
            <a:ext cx="8503920" cy="45720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9" name="Text 8"/>
          <p:cNvSpPr/>
          <p:nvPr/>
        </p:nvSpPr>
        <p:spPr>
          <a:xfrm>
            <a:off x="320040" y="43434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資料：DOW30 × Yahoo Finance × 2014–2024　｜　訓練：2014–2021　　驗證：2022　　測試：2023–2024　｜　評估指標：年化報酬率 / Sharpe Ratio / Max Drawdown / Calmar Ratio / Win Rate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80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8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280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預期成果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Findings &amp; Expected Outcomes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研究假說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5376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53312"/>
            <a:ext cx="640080" cy="877824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53312"/>
            <a:ext cx="640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146304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  加入情緒信號後，所有演算法的 Sharpe Ratio 均高於對應 Baseline，驗證情緒信號的普遍有效性。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40864"/>
            <a:ext cx="5376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40864"/>
            <a:ext cx="640080" cy="877824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40864"/>
            <a:ext cx="640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  風險調整 Reward（v2）搭配情緒信號，在控制 Max Drawdown 上具加乘效果，agent 在市場恐慌時更早降低曝險。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5376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28416"/>
            <a:ext cx="640080" cy="877824"/>
          </a:xfrm>
          <a:prstGeom prst="rect">
            <a:avLst/>
          </a:prstGeom>
          <a:solidFill>
            <a:srgbClr val="FEF3EE"/>
          </a:solidFill>
          <a:ln w="12700">
            <a:solidFill>
              <a:srgbClr val="E8E3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28416"/>
            <a:ext cx="640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34381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 情緒信號在高波動情境（2022 熊市、2023 AI 急漲）效果最顯著，平靜市場效益有限。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932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 Demo 目標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33872" y="1353312"/>
            <a:ext cx="29900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25312" y="1426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1072" y="1417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Streamlit 看板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1737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即時展示 Alpaca 帳戶 vs DJIA 績效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33872" y="2157984"/>
            <a:ext cx="29900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25312" y="2231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2221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每日自動排程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91072" y="2542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5 起 cron job 持續執行至期末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33872" y="2962656"/>
            <a:ext cx="29900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25312" y="303580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3026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情緒熱圖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1072" y="33467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支股票 × 時間軸情緒分數視覺化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33872" y="3767328"/>
            <a:ext cx="29900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25312" y="38404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1072" y="38313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D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交易紀錄 DB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4151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每日寫入持倉、淨值、摘要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645152"/>
            <a:ext cx="8503920" cy="36576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注：若情緒信號效果不顯著，本身即為重要研究發現，將在報告中深入分析（市場效率假說、情緒延遲效應）。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02920" cy="5033772"/>
          </a:xfrm>
          <a:prstGeom prst="rect">
            <a:avLst/>
          </a:prstGeom>
          <a:solidFill>
            <a:srgbClr val="FEF3EE"/>
          </a:solidFill>
          <a:ln w="12700">
            <a:solidFill>
              <a:srgbClr val="FEF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研究貢獻與結語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261872"/>
            <a:ext cx="26334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61872"/>
            <a:ext cx="2633472" cy="4206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2801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情緒特徵導入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73736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首次在 FinRL 框架內系統性導入 FinGPT 情緒特徵，驗證非結構化文本對 DRL 交易績效的量化貢獻。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02152" y="1261872"/>
            <a:ext cx="26334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152" y="1261872"/>
            <a:ext cx="2633472" cy="4206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2801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多演算法公平比較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73736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2×3×2 全因子消融設計，公平比較 PPO、SAC、TD3 在有無情緒特徵下的表現，排除混淆因素。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18504" y="1261872"/>
            <a:ext cx="26334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18504" y="1261872"/>
            <a:ext cx="2633472" cy="42062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2801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自動交易代理人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1737360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實現從研究到部署的完整端對端系統，包含每日自動排程、Alpaca 模擬交易與 Streamlit 即時展示。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907792"/>
            <a:ext cx="8138160" cy="36576"/>
          </a:xfrm>
          <a:prstGeom prst="rect">
            <a:avLst/>
          </a:prstGeom>
          <a:solidFill>
            <a:srgbClr val="D4CEC6"/>
          </a:solidFill>
          <a:ln w="12700">
            <a:solidFill>
              <a:srgbClr val="D4CE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175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  ·  歡迎提問與討論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" y="36210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114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28800" y="41148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組消融實驗 × 量化情緒信號對 DRL 交易績效的淨貢獻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4480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工程目標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44805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Alpaca Paper Trading 模擬交易 + Streamlit 即時 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8280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本系統為學術研究用途，所有交易均透過 Alpaca Paper Trading 模擬執行，不涉及任何真實資金。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Microsoft Office PowerPoint</Application>
  <PresentationFormat>如螢幕大小 (16:9)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情緒增強型 DRL 交易系統｜第十一組</dc:title>
  <dc:subject>PptxGenJS Presentation</dc:subject>
  <dc:creator>PptxGenJS</dc:creator>
  <cp:lastModifiedBy>CHIEN-I KAO</cp:lastModifiedBy>
  <cp:revision>2</cp:revision>
  <dcterms:created xsi:type="dcterms:W3CDTF">2026-04-29T14:08:14Z</dcterms:created>
  <dcterms:modified xsi:type="dcterms:W3CDTF">2026-04-29T14:11:37Z</dcterms:modified>
</cp:coreProperties>
</file>